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42"/>
  </p:notesMasterIdLst>
  <p:handoutMasterIdLst>
    <p:handoutMasterId r:id="rId43"/>
  </p:handoutMasterIdLst>
  <p:sldIdLst>
    <p:sldId id="260" r:id="rId5"/>
    <p:sldId id="258" r:id="rId6"/>
    <p:sldId id="288" r:id="rId7"/>
    <p:sldId id="261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298" r:id="rId18"/>
    <p:sldId id="299" r:id="rId19"/>
    <p:sldId id="300" r:id="rId20"/>
    <p:sldId id="302" r:id="rId21"/>
    <p:sldId id="301" r:id="rId22"/>
    <p:sldId id="303" r:id="rId23"/>
    <p:sldId id="304" r:id="rId24"/>
    <p:sldId id="305" r:id="rId25"/>
    <p:sldId id="306" r:id="rId26"/>
    <p:sldId id="307" r:id="rId27"/>
    <p:sldId id="308" r:id="rId28"/>
    <p:sldId id="309" r:id="rId29"/>
    <p:sldId id="310" r:id="rId30"/>
    <p:sldId id="311" r:id="rId31"/>
    <p:sldId id="312" r:id="rId32"/>
    <p:sldId id="313" r:id="rId33"/>
    <p:sldId id="314" r:id="rId34"/>
    <p:sldId id="315" r:id="rId35"/>
    <p:sldId id="316" r:id="rId36"/>
    <p:sldId id="317" r:id="rId37"/>
    <p:sldId id="318" r:id="rId38"/>
    <p:sldId id="319" r:id="rId39"/>
    <p:sldId id="320" r:id="rId40"/>
    <p:sldId id="268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544" autoAdjust="0"/>
    <p:restoredTop sz="94660"/>
  </p:normalViewPr>
  <p:slideViewPr>
    <p:cSldViewPr snapToGrid="0">
      <p:cViewPr varScale="1">
        <p:scale>
          <a:sx n="72" d="100"/>
          <a:sy n="72" d="100"/>
        </p:scale>
        <p:origin x="-594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pPr/>
              <a:t>10/18/2026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pPr/>
              <a:t>10/18/2026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xmlns="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xmlns="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xmlns="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xmlns="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xmlns="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xmlns="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xmlns="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xmlns="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xmlns="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xmlns="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xmlns="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xmlns="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xmlns="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xmlns="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 smtClean="0"/>
              <a:t>Click to edit Master subtitle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xmlns="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xmlns="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xmlns="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xmlns="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xmlns="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xmlns="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xmlns="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xmlns="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xmlns="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xmlns="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 smtClean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xmlns="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xmlns="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xmlns="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xmlns="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xmlns="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xmlns="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xmlns="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xmlns="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xmlns="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xmlns="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xmlns="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xmlns="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xmlns="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xmlns="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 smtClean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xmlns="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xmlns="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xmlns="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xmlns="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xmlns="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xmlns="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xmlns="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xmlns="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xmlns="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xmlns="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xmlns="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xmlns="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xmlns="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xmlns="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xmlns="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xmlns="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xmlns="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xmlns="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xmlns="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xmlns="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xmlns="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xmlns="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xmlns="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xmlns="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xmlns="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xmlns="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xmlns="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xmlns="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xmlns="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xmlns="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xmlns="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xmlns="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xmlns="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xmlns="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xmlns="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xmlns="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xmlns="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xmlns="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xmlns="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xmlns="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xmlns="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xmlns="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xmlns="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xmlns="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xmlns="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xmlns="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xmlns="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xmlns="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xmlns="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xmlns="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xmlns="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xmlns="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xmlns="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xmlns="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xmlns="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xmlns="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xmlns="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xmlns="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xmlns="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xmlns="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xmlns="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xmlns="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xmlns="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xmlns="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xmlns="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xmlns="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xmlns="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xmlns="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xmlns="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xmlns="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xmlns="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xmlns="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xmlns="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xmlns="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xmlns="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xmlns="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xmlns="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xmlns="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xmlns="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xmlns="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xmlns="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xmlns="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xmlns="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xmlns="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xmlns="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xmlns="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xmlns="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xmlns="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xmlns="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xmlns="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xmlns="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xmlns="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xmlns="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xmlns="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xmlns="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xmlns="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xmlns="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xmlns="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411" y="3269164"/>
            <a:ext cx="7781544" cy="859055"/>
          </a:xfrm>
        </p:spPr>
        <p:txBody>
          <a:bodyPr/>
          <a:lstStyle/>
          <a:p>
            <a:pPr algn="ctr"/>
            <a:r>
              <a:rPr lang="en-US" dirty="0" smtClean="0"/>
              <a:t>Life Insurance Policy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8265" y="4236265"/>
            <a:ext cx="6645836" cy="365760"/>
          </a:xfrm>
        </p:spPr>
        <p:txBody>
          <a:bodyPr>
            <a:no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“ZINDAGI KE SAAT BHI ZINDAGI KE BAAD BHI”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7098287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xmlns="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646331"/>
          </a:xfrm>
        </p:spPr>
        <p:txBody>
          <a:bodyPr/>
          <a:lstStyle/>
          <a:p>
            <a:r>
              <a:rPr lang="en-US" sz="4000" dirty="0" smtClean="0"/>
              <a:t>What is Life Insurance</a:t>
            </a:r>
            <a:endParaRPr lang="en-US" sz="40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xmlns="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3200" dirty="0"/>
              <a:t>Life insurance is a contract between you and an insurance company. You pay regular premiums, and in return, the insurer agrees to pay a sum of money (called the </a:t>
            </a:r>
            <a:r>
              <a:rPr lang="en-US" sz="3200" b="1" dirty="0"/>
              <a:t>death benefit</a:t>
            </a:r>
            <a:r>
              <a:rPr lang="en-US" sz="3200" dirty="0"/>
              <a:t>) to the beneficiaries you choose if you die while the policy is in force.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334860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4500" y="542925"/>
            <a:ext cx="9244623" cy="701731"/>
          </a:xfrm>
        </p:spPr>
        <p:txBody>
          <a:bodyPr/>
          <a:lstStyle/>
          <a:p>
            <a:pPr algn="ctr"/>
            <a:r>
              <a:rPr lang="en-US" sz="4400" dirty="0" smtClean="0"/>
              <a:t>ABSTRACT</a:t>
            </a:r>
            <a:endParaRPr lang="en-US" sz="4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3</a:t>
            </a:fld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400" dirty="0" smtClean="0"/>
              <a:t> </a:t>
            </a:r>
            <a:r>
              <a:rPr lang="en-US" sz="2400" b="1" dirty="0"/>
              <a:t>Life Insurance Policy Management System</a:t>
            </a:r>
            <a:r>
              <a:rPr lang="en-US" sz="2400" dirty="0"/>
              <a:t> is a database management project designed to automate and simplify the management of life insurance operations using SQL. The system provides a centralized platform for storing and managing information related to policyholders, insurance policies, agents, beneficiaries, premium payments, claims, and policy renewals. It eliminates the need for manual record-keeping, improves data accuracy, and enables faster access to information.</a:t>
            </a:r>
          </a:p>
        </p:txBody>
      </p:sp>
    </p:spTree>
    <p:extLst>
      <p:ext uri="{BB962C8B-B14F-4D97-AF65-F5344CB8AC3E}">
        <p14:creationId xmlns:p14="http://schemas.microsoft.com/office/powerpoint/2010/main" xmlns="" val="4101187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757130"/>
          </a:xfrm>
        </p:spPr>
        <p:txBody>
          <a:bodyPr/>
          <a:lstStyle/>
          <a:p>
            <a:pPr algn="ctr"/>
            <a:r>
              <a:rPr lang="en-US" sz="4800" dirty="0" smtClean="0"/>
              <a:t>ER - Diagram</a:t>
            </a:r>
            <a:endParaRPr lang="en-US" sz="4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" y="1397726"/>
            <a:ext cx="12192000" cy="5460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072704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STRUCTURE OF TABLE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9859560" cy="823912"/>
          </a:xfrm>
        </p:spPr>
        <p:txBody>
          <a:bodyPr>
            <a:normAutofit/>
          </a:bodyPr>
          <a:lstStyle/>
          <a:p>
            <a:r>
              <a:rPr lang="en-US" sz="3200" dirty="0" smtClean="0"/>
              <a:t>TABLES</a:t>
            </a:r>
            <a:endParaRPr lang="en-US" sz="3200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1.Policies Table</a:t>
            </a:r>
          </a:p>
          <a:p>
            <a:endParaRPr lang="en-US" sz="3200" dirty="0" smtClean="0"/>
          </a:p>
          <a:p>
            <a:r>
              <a:rPr lang="en-US" sz="3200" dirty="0" smtClean="0"/>
              <a:t>2.Agents Table</a:t>
            </a:r>
          </a:p>
          <a:p>
            <a:endParaRPr lang="en-US" sz="3200" dirty="0" smtClean="0"/>
          </a:p>
          <a:p>
            <a:r>
              <a:rPr lang="en-US" sz="3200" dirty="0" smtClean="0"/>
              <a:t>3. Policy Holders Table</a:t>
            </a:r>
            <a:endParaRPr lang="en-US" sz="3200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4. Premium Payment </a:t>
            </a:r>
          </a:p>
          <a:p>
            <a:pPr marL="0" indent="0">
              <a:buNone/>
            </a:pPr>
            <a:r>
              <a:rPr lang="en-US" sz="3200" dirty="0"/>
              <a:t> </a:t>
            </a:r>
            <a:r>
              <a:rPr lang="en-US" sz="3200" dirty="0" smtClean="0"/>
              <a:t>   Table</a:t>
            </a:r>
          </a:p>
          <a:p>
            <a:endParaRPr lang="en-US" sz="3200" dirty="0" smtClean="0"/>
          </a:p>
          <a:p>
            <a:r>
              <a:rPr lang="en-US" sz="3200" dirty="0" smtClean="0"/>
              <a:t>5. Claim Table</a:t>
            </a:r>
          </a:p>
          <a:p>
            <a:endParaRPr lang="en-US" sz="3200" dirty="0"/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xmlns="" val="3441948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STRUCTURE OF POLICIES TABLE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Policies Table</a:t>
            </a:r>
            <a:endParaRPr lang="en-US" sz="2800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4"/>
          </p:nvPr>
        </p:nvSpPr>
        <p:spPr>
          <a:xfrm>
            <a:off x="6475412" y="2388358"/>
            <a:ext cx="5183188" cy="1392072"/>
          </a:xfrm>
        </p:spPr>
        <p:txBody>
          <a:bodyPr/>
          <a:lstStyle/>
          <a:p>
            <a:r>
              <a:rPr lang="en-US" dirty="0"/>
              <a:t>This table stores details of all insurance policies, including the policy name, type, coverage amount, premium amount, and policy term</a:t>
            </a:r>
          </a:p>
        </p:txBody>
      </p:sp>
      <p:sp>
        <p:nvSpPr>
          <p:cNvPr id="7" name="Content Placeholder 13"/>
          <p:cNvSpPr>
            <a:spLocks noGrp="1"/>
          </p:cNvSpPr>
          <p:nvPr>
            <p:ph sz="quarter" idx="4"/>
          </p:nvPr>
        </p:nvSpPr>
        <p:spPr>
          <a:xfrm>
            <a:off x="6820279" y="3765501"/>
            <a:ext cx="5183188" cy="847442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SYNTAX</a:t>
            </a:r>
          </a:p>
          <a:p>
            <a:r>
              <a:rPr lang="en-US" b="1" dirty="0" err="1" smtClean="0"/>
              <a:t>Desc</a:t>
            </a:r>
            <a:r>
              <a:rPr lang="en-US" b="1" dirty="0" smtClean="0"/>
              <a:t> Policies;</a:t>
            </a:r>
            <a:endParaRPr lang="en-US" b="1" dirty="0"/>
          </a:p>
          <a:p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61257" y="1681163"/>
            <a:ext cx="5869287" cy="3700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97096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STRUCTURE OF AGENTS TABLE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Agents Table </a:t>
            </a:r>
            <a:endParaRPr lang="en-US" sz="2800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This table maintains the professional details of insurance agents, including their identity, contact information, and branch affiliation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21451" y="3519738"/>
            <a:ext cx="5157788" cy="823912"/>
          </a:xfrm>
        </p:spPr>
        <p:txBody>
          <a:bodyPr>
            <a:normAutofit/>
          </a:bodyPr>
          <a:lstStyle/>
          <a:p>
            <a:pPr algn="l"/>
            <a:r>
              <a:rPr lang="en-US" sz="1800" dirty="0" smtClean="0">
                <a:solidFill>
                  <a:srgbClr val="FF0000"/>
                </a:solidFill>
              </a:rPr>
              <a:t>SYNTAX</a:t>
            </a:r>
          </a:p>
          <a:p>
            <a:pPr algn="l"/>
            <a:r>
              <a:rPr lang="en-US" sz="1800" dirty="0" err="1" smtClean="0"/>
              <a:t>Desc</a:t>
            </a:r>
            <a:r>
              <a:rPr lang="en-US" sz="1800" dirty="0"/>
              <a:t> </a:t>
            </a:r>
            <a:r>
              <a:rPr lang="en-US" sz="1800" dirty="0" smtClean="0"/>
              <a:t>Agents; </a:t>
            </a:r>
            <a:endParaRPr lang="en-US" sz="1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74320" y="1959743"/>
            <a:ext cx="5812971" cy="317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22431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STRUCTURE OF POLICY HOLDERS TABLE 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Policy Holders Table</a:t>
            </a:r>
            <a:endParaRPr lang="en-US" sz="2800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1329946"/>
          </a:xfrm>
        </p:spPr>
        <p:txBody>
          <a:bodyPr/>
          <a:lstStyle/>
          <a:p>
            <a:r>
              <a:rPr lang="en-US" dirty="0"/>
              <a:t>This table stores the personal and policy details of insurance customers. It links each policy holder to a specific policy and agent for easy record management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860" y="3835021"/>
            <a:ext cx="5157788" cy="823912"/>
          </a:xfrm>
        </p:spPr>
        <p:txBody>
          <a:bodyPr>
            <a:normAutofit/>
          </a:bodyPr>
          <a:lstStyle/>
          <a:p>
            <a:pPr algn="l"/>
            <a:r>
              <a:rPr lang="en-US" sz="1800" dirty="0" smtClean="0">
                <a:solidFill>
                  <a:srgbClr val="FF0000"/>
                </a:solidFill>
              </a:rPr>
              <a:t>SYNTAX</a:t>
            </a:r>
          </a:p>
          <a:p>
            <a:pPr algn="l"/>
            <a:r>
              <a:rPr lang="en-US" sz="1800" dirty="0" err="1" smtClean="0"/>
              <a:t>Desc</a:t>
            </a:r>
            <a:r>
              <a:rPr lang="en-US" sz="1800" dirty="0"/>
              <a:t> </a:t>
            </a:r>
            <a:r>
              <a:rPr lang="en-US" sz="1800" dirty="0" err="1" smtClean="0"/>
              <a:t>Policy_Holders</a:t>
            </a:r>
            <a:r>
              <a:rPr lang="en-US" sz="1800" dirty="0" smtClean="0"/>
              <a:t>;</a:t>
            </a:r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44501" y="1874467"/>
            <a:ext cx="5185590" cy="374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3803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STRUCTURE OF PREMIUM PAYMENT TABLE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Premium Payment table</a:t>
            </a:r>
            <a:endParaRPr lang="en-US" sz="2800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1248059"/>
          </a:xfrm>
        </p:spPr>
        <p:txBody>
          <a:bodyPr/>
          <a:lstStyle/>
          <a:p>
            <a:r>
              <a:rPr lang="en-US" dirty="0"/>
              <a:t>This table records all premium payments made by policy holders. It stores the payment date, amount, and payment method for tracking payment history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7290" y="3931694"/>
            <a:ext cx="5157788" cy="823912"/>
          </a:xfrm>
        </p:spPr>
        <p:txBody>
          <a:bodyPr>
            <a:normAutofit/>
          </a:bodyPr>
          <a:lstStyle/>
          <a:p>
            <a:pPr algn="l"/>
            <a:r>
              <a:rPr lang="en-US" sz="1800" dirty="0" smtClean="0">
                <a:solidFill>
                  <a:srgbClr val="FF0000"/>
                </a:solidFill>
              </a:rPr>
              <a:t>SYNTAX </a:t>
            </a:r>
          </a:p>
          <a:p>
            <a:pPr algn="l"/>
            <a:r>
              <a:rPr lang="en-US" sz="1800" dirty="0" err="1" smtClean="0"/>
              <a:t>Desc</a:t>
            </a:r>
            <a:r>
              <a:rPr lang="en-US" sz="1800" dirty="0"/>
              <a:t>  </a:t>
            </a:r>
            <a:r>
              <a:rPr lang="en-US" sz="1800" dirty="0" err="1" smtClean="0"/>
              <a:t>Premium_Payments</a:t>
            </a:r>
            <a:r>
              <a:rPr lang="en-US" sz="1800" dirty="0" smtClean="0"/>
              <a:t>;</a:t>
            </a:r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44500" y="2069680"/>
            <a:ext cx="4914309" cy="336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20738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STRUCTURE OF CLAIM TABLE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Claim Table</a:t>
            </a:r>
            <a:endParaRPr lang="en-US" sz="2800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1357241"/>
          </a:xfrm>
        </p:spPr>
        <p:txBody>
          <a:bodyPr/>
          <a:lstStyle/>
          <a:p>
            <a:r>
              <a:rPr lang="en-US" dirty="0"/>
              <a:t>This table maintains records of insurance claims submitted by policy holders. It tracks claim details, status, and amount to ensure efficient claim processing and management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00812" y="3852827"/>
            <a:ext cx="5157788" cy="823912"/>
          </a:xfrm>
        </p:spPr>
        <p:txBody>
          <a:bodyPr>
            <a:normAutofit/>
          </a:bodyPr>
          <a:lstStyle/>
          <a:p>
            <a:pPr algn="l"/>
            <a:r>
              <a:rPr lang="en-US" sz="1800" dirty="0" smtClean="0">
                <a:solidFill>
                  <a:srgbClr val="FF0000"/>
                </a:solidFill>
              </a:rPr>
              <a:t>SYNTAX </a:t>
            </a:r>
          </a:p>
          <a:p>
            <a:pPr algn="l"/>
            <a:r>
              <a:rPr lang="en-US" sz="1800" dirty="0" err="1" smtClean="0"/>
              <a:t>Desc</a:t>
            </a:r>
            <a:r>
              <a:rPr lang="en-US" sz="1800" dirty="0"/>
              <a:t> </a:t>
            </a:r>
            <a:r>
              <a:rPr lang="en-US" sz="1800" dirty="0" smtClean="0"/>
              <a:t>Claims;</a:t>
            </a:r>
          </a:p>
          <a:p>
            <a:pPr algn="l"/>
            <a:endParaRPr lang="en-US" sz="1800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52696" y="1911369"/>
            <a:ext cx="5656217" cy="331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33692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 OF TABLES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9450127" cy="82391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TABLES</a:t>
            </a:r>
            <a:endParaRPr lang="en-US" sz="2800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Policies Table</a:t>
            </a:r>
          </a:p>
          <a:p>
            <a:endParaRPr lang="en-US" sz="3200" dirty="0" smtClean="0"/>
          </a:p>
          <a:p>
            <a:r>
              <a:rPr lang="en-US" sz="3200" dirty="0" smtClean="0"/>
              <a:t>Agents Table</a:t>
            </a:r>
          </a:p>
          <a:p>
            <a:pPr marL="0" indent="0">
              <a:buNone/>
            </a:pPr>
            <a:endParaRPr lang="en-US" sz="3200" dirty="0" smtClean="0"/>
          </a:p>
          <a:p>
            <a:r>
              <a:rPr lang="en-US" sz="3200" dirty="0" smtClean="0"/>
              <a:t>Policy Holders Table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half" idx="2"/>
          </p:nvPr>
        </p:nvSpPr>
        <p:spPr>
          <a:xfrm>
            <a:off x="6051550" y="2505075"/>
            <a:ext cx="5157787" cy="3684588"/>
          </a:xfrm>
        </p:spPr>
        <p:txBody>
          <a:bodyPr>
            <a:normAutofit/>
          </a:bodyPr>
          <a:lstStyle/>
          <a:p>
            <a:r>
              <a:rPr lang="en-US" sz="3200" dirty="0" smtClean="0"/>
              <a:t>Premium Payment Table</a:t>
            </a:r>
          </a:p>
          <a:p>
            <a:endParaRPr lang="en-US" sz="3200" dirty="0" smtClean="0"/>
          </a:p>
          <a:p>
            <a:r>
              <a:rPr lang="en-US" sz="3200" dirty="0" smtClean="0"/>
              <a:t>Claim Table</a:t>
            </a:r>
          </a:p>
          <a:p>
            <a:pPr marL="0" indent="0">
              <a:buNone/>
            </a:pP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xmlns="" val="2623621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 OF POLICIES TABLE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Policies Table</a:t>
            </a:r>
            <a:endParaRPr lang="en-US" sz="2800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1507367"/>
          </a:xfrm>
        </p:spPr>
        <p:txBody>
          <a:bodyPr/>
          <a:lstStyle/>
          <a:p>
            <a:r>
              <a:rPr lang="en-US" dirty="0"/>
              <a:t>This table stores details of all insurance policies, including the policy name, type, coverage amount, premium amount, and policy term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16" y="3927890"/>
            <a:ext cx="4885899" cy="823912"/>
          </a:xfrm>
        </p:spPr>
        <p:txBody>
          <a:bodyPr>
            <a:normAutofit/>
          </a:bodyPr>
          <a:lstStyle/>
          <a:p>
            <a:pPr algn="l"/>
            <a:r>
              <a:rPr lang="en-US" sz="1800" dirty="0" smtClean="0">
                <a:solidFill>
                  <a:srgbClr val="FF0000"/>
                </a:solidFill>
              </a:rPr>
              <a:t>SYNTAX</a:t>
            </a:r>
            <a:endParaRPr lang="en-US" sz="1800" dirty="0">
              <a:solidFill>
                <a:srgbClr val="FF0000"/>
              </a:solidFill>
            </a:endParaRPr>
          </a:p>
          <a:p>
            <a:pPr algn="l"/>
            <a:r>
              <a:rPr lang="en-US" sz="1800" dirty="0"/>
              <a:t> </a:t>
            </a:r>
            <a:r>
              <a:rPr lang="en-US" sz="1800" dirty="0" smtClean="0"/>
              <a:t>Select*from Policies;</a:t>
            </a:r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69817" y="1472157"/>
            <a:ext cx="5881733" cy="48429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xmlns="" val="3786433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 OF AGENTS TABLEE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Agents Table</a:t>
            </a:r>
            <a:endParaRPr lang="en-US" sz="2800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6573221" y="2464132"/>
            <a:ext cx="5183188" cy="1289003"/>
          </a:xfrm>
        </p:spPr>
        <p:txBody>
          <a:bodyPr/>
          <a:lstStyle/>
          <a:p>
            <a:r>
              <a:rPr lang="en-US" dirty="0"/>
              <a:t>This table maintains the professional details of insurance agents, including their identity, contact information, and branch affiliation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73754" y="3677783"/>
            <a:ext cx="4984845" cy="823912"/>
          </a:xfrm>
        </p:spPr>
        <p:txBody>
          <a:bodyPr>
            <a:normAutofit/>
          </a:bodyPr>
          <a:lstStyle/>
          <a:p>
            <a:pPr algn="l"/>
            <a:r>
              <a:rPr lang="en-US" sz="1800" dirty="0" smtClean="0">
                <a:solidFill>
                  <a:srgbClr val="FF0000"/>
                </a:solidFill>
              </a:rPr>
              <a:t>SYNTAX</a:t>
            </a:r>
          </a:p>
          <a:p>
            <a:pPr algn="l"/>
            <a:r>
              <a:rPr lang="en-US" sz="1800" dirty="0"/>
              <a:t>select*from Agents;</a:t>
            </a:r>
            <a:endParaRPr lang="en-US" sz="18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69818" y="1638004"/>
            <a:ext cx="5977288" cy="4540727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xmlns="" val="2090755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4500" y="542925"/>
            <a:ext cx="10965028" cy="535531"/>
          </a:xfrm>
        </p:spPr>
        <p:txBody>
          <a:bodyPr/>
          <a:lstStyle/>
          <a:p>
            <a:r>
              <a:rPr lang="en-US" dirty="0" smtClean="0"/>
              <a:t>CONTENTS OF POLICY HOLDERS TABLE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Policy Holders Table </a:t>
            </a:r>
            <a:endParaRPr lang="en-US" sz="2800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1329946"/>
          </a:xfrm>
        </p:spPr>
        <p:txBody>
          <a:bodyPr/>
          <a:lstStyle/>
          <a:p>
            <a:r>
              <a:rPr lang="en-US" dirty="0"/>
              <a:t>This table stores the personal and policy details of insurance customers. It links each policy holder to a specific policy and agent for easy record management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01050" y="3931693"/>
            <a:ext cx="4551149" cy="1053435"/>
          </a:xfrm>
        </p:spPr>
        <p:txBody>
          <a:bodyPr>
            <a:normAutofit/>
          </a:bodyPr>
          <a:lstStyle/>
          <a:p>
            <a:pPr algn="l"/>
            <a:r>
              <a:rPr lang="en-US" sz="1800" dirty="0" smtClean="0">
                <a:solidFill>
                  <a:srgbClr val="FF0000"/>
                </a:solidFill>
              </a:rPr>
              <a:t>SYNTAX</a:t>
            </a:r>
          </a:p>
          <a:p>
            <a:pPr algn="l"/>
            <a:r>
              <a:rPr lang="en-US" sz="1800" dirty="0"/>
              <a:t>select*from </a:t>
            </a:r>
            <a:r>
              <a:rPr lang="en-US" sz="1800" dirty="0" err="1"/>
              <a:t>Policy_Holders</a:t>
            </a:r>
            <a:r>
              <a:rPr lang="en-US" sz="1800" dirty="0"/>
              <a:t>;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09005" y="1489166"/>
            <a:ext cx="6291807" cy="4702627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xmlns="" val="1385610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 OF PRRMIUM PAYMENT TABLE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53212" y="3862316"/>
            <a:ext cx="4979988" cy="1050878"/>
          </a:xfrm>
        </p:spPr>
        <p:txBody>
          <a:bodyPr>
            <a:normAutofit/>
          </a:bodyPr>
          <a:lstStyle/>
          <a:p>
            <a:pPr algn="l"/>
            <a:r>
              <a:rPr lang="en-US" sz="1800" dirty="0" smtClean="0">
                <a:solidFill>
                  <a:srgbClr val="FF0000"/>
                </a:solidFill>
              </a:rPr>
              <a:t>SYNTAX</a:t>
            </a:r>
          </a:p>
          <a:p>
            <a:pPr algn="l"/>
            <a:r>
              <a:rPr lang="en-US" sz="1800" dirty="0"/>
              <a:t>select*from </a:t>
            </a:r>
            <a:r>
              <a:rPr lang="en-US" sz="1800" dirty="0" err="1"/>
              <a:t>Premium_Payments</a:t>
            </a:r>
            <a:r>
              <a:rPr lang="en-US" sz="1800" dirty="0"/>
              <a:t>;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1357241"/>
          </a:xfrm>
        </p:spPr>
        <p:txBody>
          <a:bodyPr/>
          <a:lstStyle/>
          <a:p>
            <a:r>
              <a:rPr lang="en-US" dirty="0"/>
              <a:t>This table records all premium payments made by policy holders. It stores the payment date, amount, and payment method for tracking payment history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53212" y="1833563"/>
            <a:ext cx="5157788" cy="82391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Premium Payment Table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59444" y="1715997"/>
            <a:ext cx="6127068" cy="4789306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</p:spTree>
    <p:extLst>
      <p:ext uri="{BB962C8B-B14F-4D97-AF65-F5344CB8AC3E}">
        <p14:creationId xmlns:p14="http://schemas.microsoft.com/office/powerpoint/2010/main" xmlns="" val="1454089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 OF CLAIM TABLES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Claim Table</a:t>
            </a:r>
            <a:endParaRPr lang="en-US" sz="2800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1370889"/>
          </a:xfrm>
        </p:spPr>
        <p:txBody>
          <a:bodyPr/>
          <a:lstStyle/>
          <a:p>
            <a:r>
              <a:rPr lang="en-US" dirty="0"/>
              <a:t>This table maintains records of insurance claims submitted by policy holders. It tracks claim details, status, and amount to ensure efficient claim processing and management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5412" y="3880799"/>
            <a:ext cx="5157788" cy="1068222"/>
          </a:xfrm>
        </p:spPr>
        <p:txBody>
          <a:bodyPr>
            <a:normAutofit/>
          </a:bodyPr>
          <a:lstStyle/>
          <a:p>
            <a:pPr algn="l"/>
            <a:r>
              <a:rPr lang="en-US" sz="1800" dirty="0" smtClean="0">
                <a:solidFill>
                  <a:srgbClr val="FF0000"/>
                </a:solidFill>
              </a:rPr>
              <a:t>SYNTAX</a:t>
            </a:r>
          </a:p>
          <a:p>
            <a:pPr algn="l"/>
            <a:r>
              <a:rPr lang="en-US" sz="1800" dirty="0"/>
              <a:t>select*from Claims;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0629" y="1802674"/>
            <a:ext cx="6344783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06859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42447" y="2770496"/>
            <a:ext cx="7902053" cy="3084394"/>
          </a:xfrm>
        </p:spPr>
        <p:txBody>
          <a:bodyPr>
            <a:normAutofit/>
          </a:bodyPr>
          <a:lstStyle/>
          <a:p>
            <a:r>
              <a:rPr lang="en-US" sz="8800" dirty="0" smtClean="0"/>
              <a:t>SUB-QUERY</a:t>
            </a:r>
          </a:p>
          <a:p>
            <a:r>
              <a:rPr lang="en-US" sz="2400" dirty="0" smtClean="0"/>
              <a:t>NESTED SELECT STATEMENTS FOR DEEPER ANALYIS</a:t>
            </a:r>
          </a:p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xmlns="" val="2855061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SUB-QUERY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dirty="0" smtClean="0"/>
              <a:t> 1. Find  </a:t>
            </a:r>
            <a:r>
              <a:rPr lang="en-US" sz="2400" dirty="0"/>
              <a:t>the policy with the highest premium amount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SYNTAX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dirty="0"/>
              <a:t>SELECT *FROM </a:t>
            </a:r>
            <a:r>
              <a:rPr lang="en-US" dirty="0" smtClean="0"/>
              <a:t>Policies WHERE </a:t>
            </a:r>
            <a:r>
              <a:rPr lang="en-US" dirty="0" err="1" smtClean="0"/>
              <a:t>Premium_Amount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smtClean="0"/>
              <a:t>( </a:t>
            </a:r>
            <a:r>
              <a:rPr lang="en-US" dirty="0"/>
              <a:t>SELECT MAX(</a:t>
            </a:r>
            <a:r>
              <a:rPr lang="en-US" dirty="0" err="1"/>
              <a:t>Premium_Amount</a:t>
            </a:r>
            <a:r>
              <a:rPr lang="en-US" dirty="0"/>
              <a:t>) </a:t>
            </a:r>
            <a:r>
              <a:rPr lang="en-US" dirty="0" smtClean="0"/>
              <a:t>FROM </a:t>
            </a:r>
            <a:r>
              <a:rPr lang="en-US" dirty="0"/>
              <a:t>Policies);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26140" y="2244692"/>
            <a:ext cx="6044031" cy="2797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927692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SUB-QUERY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/>
            <a:r>
              <a:rPr lang="en-US" dirty="0" smtClean="0"/>
              <a:t>2 . find </a:t>
            </a:r>
            <a:r>
              <a:rPr lang="en-US" dirty="0"/>
              <a:t>policy holder whose policy term is more than 20 </a:t>
            </a:r>
            <a:r>
              <a:rPr lang="en-US" dirty="0" smtClean="0"/>
              <a:t>year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1971391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SYNTAX</a:t>
            </a:r>
          </a:p>
          <a:p>
            <a:r>
              <a:rPr lang="en-US" dirty="0"/>
              <a:t>SELECT </a:t>
            </a:r>
            <a:r>
              <a:rPr lang="en-US" dirty="0" err="1"/>
              <a:t>Holder_First_Name</a:t>
            </a:r>
            <a:r>
              <a:rPr lang="en-US" dirty="0" smtClean="0"/>
              <a:t>,  </a:t>
            </a:r>
            <a:r>
              <a:rPr lang="en-US" dirty="0" err="1" smtClean="0"/>
              <a:t>Holder_Last_Name</a:t>
            </a:r>
            <a:r>
              <a:rPr lang="en-US" dirty="0" smtClean="0"/>
              <a:t> FROM  </a:t>
            </a:r>
            <a:r>
              <a:rPr lang="en-US" dirty="0" err="1" smtClean="0"/>
              <a:t>Policy_Holders</a:t>
            </a:r>
            <a:r>
              <a:rPr lang="en-US" dirty="0" smtClean="0"/>
              <a:t> WHERE  </a:t>
            </a:r>
            <a:r>
              <a:rPr lang="en-US" dirty="0" err="1" smtClean="0"/>
              <a:t>Policy_ID</a:t>
            </a:r>
            <a:r>
              <a:rPr lang="en-US" dirty="0" smtClean="0"/>
              <a:t> IN </a:t>
            </a:r>
            <a:r>
              <a:rPr lang="en-US" dirty="0"/>
              <a:t>( </a:t>
            </a:r>
            <a:r>
              <a:rPr lang="en-US" dirty="0" smtClean="0"/>
              <a:t>SELECT  </a:t>
            </a:r>
            <a:r>
              <a:rPr lang="en-US" dirty="0" err="1" smtClean="0"/>
              <a:t>Policy_ID</a:t>
            </a:r>
            <a:r>
              <a:rPr lang="en-US" dirty="0" smtClean="0"/>
              <a:t>   </a:t>
            </a:r>
            <a:r>
              <a:rPr lang="en-US" dirty="0"/>
              <a:t>FROM Policies    WHERE </a:t>
            </a:r>
            <a:r>
              <a:rPr lang="en-US" dirty="0" smtClean="0"/>
              <a:t> </a:t>
            </a:r>
            <a:r>
              <a:rPr lang="en-US" dirty="0" err="1" smtClean="0"/>
              <a:t>Policy_Term</a:t>
            </a:r>
            <a:r>
              <a:rPr lang="en-US" dirty="0" smtClean="0"/>
              <a:t> </a:t>
            </a:r>
            <a:r>
              <a:rPr lang="en-US" dirty="0"/>
              <a:t>&gt; 20);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13509" y="1872513"/>
            <a:ext cx="5107577" cy="260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46004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SUB-QUERY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20</a:t>
            </a:fld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/>
            <a:r>
              <a:rPr lang="en-US" dirty="0" smtClean="0"/>
              <a:t>3 . find </a:t>
            </a:r>
            <a:r>
              <a:rPr lang="en-US" dirty="0"/>
              <a:t>agents who mange active policy holders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SYNTAX  </a:t>
            </a:r>
          </a:p>
          <a:p>
            <a:r>
              <a:rPr lang="en-US" dirty="0"/>
              <a:t>SELECT *FROM </a:t>
            </a:r>
            <a:r>
              <a:rPr lang="en-US" dirty="0" smtClean="0"/>
              <a:t>Agents WHERE </a:t>
            </a:r>
            <a:r>
              <a:rPr lang="en-US" dirty="0" err="1" smtClean="0"/>
              <a:t>Agent_ID</a:t>
            </a:r>
            <a:r>
              <a:rPr lang="en-US" dirty="0" smtClean="0"/>
              <a:t> IN </a:t>
            </a:r>
            <a:r>
              <a:rPr lang="en-US" dirty="0"/>
              <a:t>( </a:t>
            </a:r>
            <a:r>
              <a:rPr lang="en-US" dirty="0" smtClean="0"/>
              <a:t> SELECT  </a:t>
            </a:r>
            <a:r>
              <a:rPr lang="en-US" dirty="0" err="1" smtClean="0"/>
              <a:t>Agent_ID</a:t>
            </a:r>
            <a:r>
              <a:rPr lang="en-US" dirty="0" smtClean="0"/>
              <a:t>    </a:t>
            </a:r>
            <a:r>
              <a:rPr lang="en-US" dirty="0"/>
              <a:t>FROM </a:t>
            </a:r>
            <a:r>
              <a:rPr lang="en-US" dirty="0" err="1" smtClean="0"/>
              <a:t>Policy_Holders</a:t>
            </a:r>
            <a:r>
              <a:rPr lang="en-US" dirty="0" smtClean="0"/>
              <a:t> </a:t>
            </a:r>
            <a:r>
              <a:rPr lang="en-US" dirty="0"/>
              <a:t>WHERE Status = 'Active');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09006" y="1769609"/>
            <a:ext cx="6152605" cy="3377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18610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SUB-QUERY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21</a:t>
            </a:fld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/>
            <a:r>
              <a:rPr lang="en-US" dirty="0" smtClean="0"/>
              <a:t>4 . find </a:t>
            </a:r>
            <a:r>
              <a:rPr lang="en-US" dirty="0"/>
              <a:t>policy holders who have made a payment above 20000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SYNTAX </a:t>
            </a:r>
          </a:p>
          <a:p>
            <a:r>
              <a:rPr lang="en-US" dirty="0"/>
              <a:t>SELECT </a:t>
            </a:r>
            <a:r>
              <a:rPr lang="en-US" dirty="0" err="1"/>
              <a:t>Holder_First_Name</a:t>
            </a:r>
            <a:r>
              <a:rPr lang="en-US" dirty="0"/>
              <a:t>, </a:t>
            </a:r>
            <a:r>
              <a:rPr lang="en-US" dirty="0" err="1" smtClean="0"/>
              <a:t>Holder_Last_Name</a:t>
            </a:r>
            <a:r>
              <a:rPr lang="en-US" dirty="0" smtClean="0"/>
              <a:t> FROM </a:t>
            </a:r>
            <a:r>
              <a:rPr lang="en-US" dirty="0" err="1" smtClean="0"/>
              <a:t>Policy_Holders</a:t>
            </a:r>
            <a:r>
              <a:rPr lang="en-US" dirty="0" smtClean="0"/>
              <a:t> WHERE </a:t>
            </a:r>
            <a:r>
              <a:rPr lang="en-US" dirty="0" err="1"/>
              <a:t>Policy_Holder_ID</a:t>
            </a:r>
            <a:r>
              <a:rPr lang="en-US" dirty="0"/>
              <a:t> IN ( </a:t>
            </a:r>
            <a:r>
              <a:rPr lang="en-US" dirty="0" smtClean="0"/>
              <a:t>SELECT </a:t>
            </a:r>
            <a:r>
              <a:rPr lang="en-US" dirty="0" err="1" smtClean="0"/>
              <a:t>Policy_Holder_ID</a:t>
            </a:r>
            <a:r>
              <a:rPr lang="en-US" dirty="0" smtClean="0"/>
              <a:t> </a:t>
            </a:r>
            <a:r>
              <a:rPr lang="en-US" dirty="0"/>
              <a:t>FROM </a:t>
            </a:r>
            <a:r>
              <a:rPr lang="en-US" dirty="0" err="1" smtClean="0"/>
              <a:t>Premium_Payments</a:t>
            </a:r>
            <a:r>
              <a:rPr lang="en-US" dirty="0" smtClean="0"/>
              <a:t> </a:t>
            </a:r>
            <a:r>
              <a:rPr lang="en-US" dirty="0"/>
              <a:t>WHERE Amount &gt; 20000);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44500" y="2093119"/>
            <a:ext cx="5486037" cy="3014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95782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SUB-QUERY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22</a:t>
            </a:fld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/>
            <a:r>
              <a:rPr lang="en-US" dirty="0" smtClean="0"/>
              <a:t>5 . find </a:t>
            </a:r>
            <a:r>
              <a:rPr lang="en-US" dirty="0"/>
              <a:t>policy holders who have an </a:t>
            </a:r>
            <a:r>
              <a:rPr lang="en-US" dirty="0" smtClean="0"/>
              <a:t>Approved </a:t>
            </a:r>
            <a:r>
              <a:rPr lang="en-US" dirty="0"/>
              <a:t>claim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SELECT </a:t>
            </a:r>
            <a:r>
              <a:rPr lang="en-US" dirty="0" err="1"/>
              <a:t>Holder_First_Name</a:t>
            </a:r>
            <a:r>
              <a:rPr lang="en-US" dirty="0"/>
              <a:t>, </a:t>
            </a:r>
            <a:r>
              <a:rPr lang="en-US" dirty="0" err="1" smtClean="0"/>
              <a:t>Holder_Last_Name</a:t>
            </a:r>
            <a:r>
              <a:rPr lang="en-US" dirty="0" smtClean="0"/>
              <a:t> FROM </a:t>
            </a:r>
            <a:r>
              <a:rPr lang="en-US" dirty="0" err="1" smtClean="0"/>
              <a:t>Policy_Holders</a:t>
            </a:r>
            <a:r>
              <a:rPr lang="en-US" dirty="0" smtClean="0"/>
              <a:t> WHERE </a:t>
            </a:r>
            <a:r>
              <a:rPr lang="en-US" dirty="0" err="1"/>
              <a:t>Policy_Holder_ID</a:t>
            </a:r>
            <a:r>
              <a:rPr lang="en-US" dirty="0"/>
              <a:t> IN ( </a:t>
            </a:r>
            <a:r>
              <a:rPr lang="en-US" dirty="0" smtClean="0"/>
              <a:t>SELECT </a:t>
            </a:r>
            <a:r>
              <a:rPr lang="en-US" dirty="0" err="1"/>
              <a:t>Policy_Holder_ID</a:t>
            </a: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dirty="0"/>
              <a:t>FROM Claims </a:t>
            </a:r>
            <a:r>
              <a:rPr lang="en-US" dirty="0" smtClean="0"/>
              <a:t>WHERE </a:t>
            </a:r>
            <a:r>
              <a:rPr lang="en-US" dirty="0" err="1"/>
              <a:t>Claim_Status</a:t>
            </a:r>
            <a:r>
              <a:rPr lang="en-US" dirty="0"/>
              <a:t> = 'Approved');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44500" y="2093119"/>
            <a:ext cx="5407660" cy="3197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68851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23</a:t>
            </a:fld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19869" y="3016155"/>
            <a:ext cx="8488907" cy="2101754"/>
          </a:xfrm>
        </p:spPr>
        <p:txBody>
          <a:bodyPr>
            <a:normAutofit/>
          </a:bodyPr>
          <a:lstStyle/>
          <a:p>
            <a:r>
              <a:rPr lang="en-US" sz="8800" dirty="0" smtClean="0"/>
              <a:t>JOINS</a:t>
            </a:r>
          </a:p>
          <a:p>
            <a:r>
              <a:rPr lang="en-US" sz="2400" dirty="0" smtClean="0"/>
              <a:t>INNER,LEFT AND RIGHT JOIN ACROSS THE TABLE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2263028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JOINS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24</a:t>
            </a:fld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/>
            <a:r>
              <a:rPr lang="en-US" dirty="0" smtClean="0"/>
              <a:t>1 . Show </a:t>
            </a:r>
            <a:r>
              <a:rPr lang="en-US" dirty="0"/>
              <a:t>the Policy Holder Name and Policy Name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SYNTAX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/>
              <a:t> </a:t>
            </a:r>
            <a:r>
              <a:rPr lang="en-US" dirty="0"/>
              <a:t>SELECT </a:t>
            </a:r>
            <a:r>
              <a:rPr lang="en-US" dirty="0" err="1"/>
              <a:t>ph.Holder_First_Name</a:t>
            </a:r>
            <a:r>
              <a:rPr lang="en-US" dirty="0"/>
              <a:t>,       </a:t>
            </a:r>
            <a:r>
              <a:rPr lang="en-US" dirty="0" err="1"/>
              <a:t>ph.Holder_Last_Name</a:t>
            </a:r>
            <a:r>
              <a:rPr lang="en-US" dirty="0"/>
              <a:t>,       </a:t>
            </a:r>
            <a:r>
              <a:rPr lang="en-US" dirty="0" err="1" smtClean="0"/>
              <a:t>p.Policy_Name</a:t>
            </a:r>
            <a:r>
              <a:rPr lang="en-US" dirty="0" smtClean="0"/>
              <a:t> FROM </a:t>
            </a:r>
            <a:r>
              <a:rPr lang="en-US" dirty="0" err="1"/>
              <a:t>Policy_Holders</a:t>
            </a:r>
            <a:r>
              <a:rPr lang="en-US" dirty="0"/>
              <a:t> </a:t>
            </a:r>
            <a:r>
              <a:rPr lang="en-US" dirty="0" err="1"/>
              <a:t>phINNER</a:t>
            </a:r>
            <a:r>
              <a:rPr lang="en-US" dirty="0"/>
              <a:t> JOIN Policies </a:t>
            </a:r>
            <a:r>
              <a:rPr lang="en-US" dirty="0" err="1"/>
              <a:t>pON</a:t>
            </a:r>
            <a:r>
              <a:rPr lang="en-US" dirty="0"/>
              <a:t> </a:t>
            </a:r>
            <a:r>
              <a:rPr lang="en-US" dirty="0" err="1"/>
              <a:t>ph.Policy_ID</a:t>
            </a:r>
            <a:r>
              <a:rPr lang="en-US" dirty="0"/>
              <a:t> = </a:t>
            </a:r>
            <a:r>
              <a:rPr lang="en-US" dirty="0" err="1"/>
              <a:t>p.Policy_ID</a:t>
            </a:r>
            <a:r>
              <a:rPr lang="en-US" dirty="0"/>
              <a:t>;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69816" y="1300582"/>
            <a:ext cx="5891349" cy="4747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62254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JOINS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25</a:t>
            </a:fld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/>
            <a:r>
              <a:rPr lang="en-US" dirty="0" smtClean="0"/>
              <a:t> 2. Show </a:t>
            </a:r>
            <a:r>
              <a:rPr lang="en-US" dirty="0"/>
              <a:t>all Policy Holders and their Payment Amount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SYNTAX </a:t>
            </a:r>
          </a:p>
          <a:p>
            <a:r>
              <a:rPr lang="en-US" dirty="0"/>
              <a:t>SELECT </a:t>
            </a:r>
            <a:r>
              <a:rPr lang="en-US" dirty="0" err="1"/>
              <a:t>ph.Holder_First_Name</a:t>
            </a:r>
            <a:r>
              <a:rPr lang="en-US" dirty="0"/>
              <a:t>,       </a:t>
            </a:r>
            <a:r>
              <a:rPr lang="en-US" dirty="0" err="1"/>
              <a:t>ph.Holder_Last_Name</a:t>
            </a:r>
            <a:r>
              <a:rPr lang="en-US" dirty="0"/>
              <a:t>,       </a:t>
            </a:r>
            <a:r>
              <a:rPr lang="en-US" dirty="0" err="1"/>
              <a:t>pp.AmountFROM</a:t>
            </a:r>
            <a:r>
              <a:rPr lang="en-US" dirty="0"/>
              <a:t> </a:t>
            </a:r>
            <a:r>
              <a:rPr lang="en-US" dirty="0" err="1"/>
              <a:t>Policy_Holders</a:t>
            </a:r>
            <a:r>
              <a:rPr lang="en-US" dirty="0"/>
              <a:t> </a:t>
            </a:r>
            <a:r>
              <a:rPr lang="en-US" dirty="0" err="1"/>
              <a:t>phLEFT</a:t>
            </a:r>
            <a:r>
              <a:rPr lang="en-US" dirty="0"/>
              <a:t> JOIN </a:t>
            </a:r>
            <a:r>
              <a:rPr lang="en-US" dirty="0" err="1"/>
              <a:t>Premium_Payments</a:t>
            </a:r>
            <a:r>
              <a:rPr lang="en-US" dirty="0"/>
              <a:t> </a:t>
            </a:r>
            <a:r>
              <a:rPr lang="en-US" dirty="0" err="1"/>
              <a:t>ppON</a:t>
            </a:r>
            <a:r>
              <a:rPr lang="en-US" dirty="0"/>
              <a:t> </a:t>
            </a:r>
            <a:r>
              <a:rPr lang="en-US" dirty="0" err="1"/>
              <a:t>ph.Policy_Holder_ID</a:t>
            </a:r>
            <a:r>
              <a:rPr lang="en-US" dirty="0"/>
              <a:t> = </a:t>
            </a:r>
            <a:r>
              <a:rPr lang="en-US" dirty="0" err="1"/>
              <a:t>pp.Policy_Holder_ID</a:t>
            </a:r>
            <a:r>
              <a:rPr lang="en-US" dirty="0"/>
              <a:t>;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22070" y="1459790"/>
            <a:ext cx="5956662" cy="472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86085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JOINS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26</a:t>
            </a:fld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/>
            <a:r>
              <a:rPr lang="en-US" dirty="0" smtClean="0"/>
              <a:t>3 . Show </a:t>
            </a:r>
            <a:r>
              <a:rPr lang="en-US" dirty="0"/>
              <a:t>all Policy Holders and their Claim Status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SYNTAX  </a:t>
            </a:r>
          </a:p>
          <a:p>
            <a:r>
              <a:rPr lang="en-US" dirty="0"/>
              <a:t>SELECT </a:t>
            </a:r>
            <a:r>
              <a:rPr lang="en-US" dirty="0" err="1"/>
              <a:t>ph.Holder_First_Name</a:t>
            </a:r>
            <a:r>
              <a:rPr lang="en-US" dirty="0"/>
              <a:t>,       </a:t>
            </a:r>
            <a:r>
              <a:rPr lang="en-US" dirty="0" err="1"/>
              <a:t>ph.Holder_Last_Name</a:t>
            </a:r>
            <a:r>
              <a:rPr lang="en-US" dirty="0"/>
              <a:t>,       </a:t>
            </a:r>
            <a:r>
              <a:rPr lang="en-US" dirty="0" err="1"/>
              <a:t>c.Claim_StatusFROM</a:t>
            </a:r>
            <a:r>
              <a:rPr lang="en-US" dirty="0"/>
              <a:t> </a:t>
            </a:r>
            <a:r>
              <a:rPr lang="en-US" dirty="0" err="1"/>
              <a:t>Policy_Holders</a:t>
            </a:r>
            <a:r>
              <a:rPr lang="en-US" dirty="0"/>
              <a:t> </a:t>
            </a:r>
            <a:r>
              <a:rPr lang="en-US" dirty="0" err="1"/>
              <a:t>phLEFT</a:t>
            </a:r>
            <a:r>
              <a:rPr lang="en-US" dirty="0"/>
              <a:t> JOIN Claims </a:t>
            </a:r>
            <a:r>
              <a:rPr lang="en-US" dirty="0" err="1"/>
              <a:t>cON</a:t>
            </a:r>
            <a:r>
              <a:rPr lang="en-US" dirty="0"/>
              <a:t> </a:t>
            </a:r>
            <a:r>
              <a:rPr lang="en-US" dirty="0" err="1"/>
              <a:t>ph.Policy_Holder_ID</a:t>
            </a:r>
            <a:r>
              <a:rPr lang="en-US" dirty="0"/>
              <a:t> = </a:t>
            </a:r>
            <a:r>
              <a:rPr lang="en-US" dirty="0" err="1"/>
              <a:t>c.Policy_Holder_ID</a:t>
            </a:r>
            <a:r>
              <a:rPr lang="en-US" dirty="0"/>
              <a:t>;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44500" y="1420235"/>
            <a:ext cx="5094151" cy="476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2751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JOINS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27</a:t>
            </a:fld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/>
            <a:r>
              <a:rPr lang="en-US" dirty="0" smtClean="0"/>
              <a:t> 4 . Show </a:t>
            </a:r>
            <a:r>
              <a:rPr lang="en-US" dirty="0"/>
              <a:t>all Policy Holders and their Payment Method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SYNTAX </a:t>
            </a:r>
          </a:p>
          <a:p>
            <a:r>
              <a:rPr lang="en-US" dirty="0"/>
              <a:t>SELECT </a:t>
            </a:r>
            <a:r>
              <a:rPr lang="en-US" dirty="0" err="1"/>
              <a:t>ph.Holder_First_Name</a:t>
            </a:r>
            <a:r>
              <a:rPr lang="en-US" dirty="0"/>
              <a:t>,       </a:t>
            </a:r>
            <a:r>
              <a:rPr lang="en-US" dirty="0" err="1"/>
              <a:t>pp.Payment_MethodFROM</a:t>
            </a:r>
            <a:r>
              <a:rPr lang="en-US" dirty="0"/>
              <a:t> </a:t>
            </a:r>
            <a:r>
              <a:rPr lang="en-US" dirty="0" err="1"/>
              <a:t>Policy_Holders</a:t>
            </a:r>
            <a:r>
              <a:rPr lang="en-US" dirty="0"/>
              <a:t> </a:t>
            </a:r>
            <a:r>
              <a:rPr lang="en-US" dirty="0" err="1"/>
              <a:t>phLEFT</a:t>
            </a:r>
            <a:r>
              <a:rPr lang="en-US" dirty="0"/>
              <a:t> JOIN </a:t>
            </a:r>
            <a:r>
              <a:rPr lang="en-US" dirty="0" err="1"/>
              <a:t>Premium_Payments</a:t>
            </a:r>
            <a:r>
              <a:rPr lang="en-US" dirty="0"/>
              <a:t> </a:t>
            </a:r>
            <a:r>
              <a:rPr lang="en-US" dirty="0" err="1"/>
              <a:t>ppON</a:t>
            </a:r>
            <a:r>
              <a:rPr lang="en-US" dirty="0"/>
              <a:t> </a:t>
            </a:r>
            <a:r>
              <a:rPr lang="en-US" dirty="0" err="1"/>
              <a:t>ph.Policy_Holder_ID</a:t>
            </a:r>
            <a:r>
              <a:rPr lang="en-US" dirty="0"/>
              <a:t> = </a:t>
            </a:r>
            <a:r>
              <a:rPr lang="en-US" dirty="0" err="1"/>
              <a:t>pp.Policy_Holder_ID</a:t>
            </a:r>
            <a:r>
              <a:rPr lang="en-US" dirty="0"/>
              <a:t>;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26571" y="1443047"/>
            <a:ext cx="5525589" cy="4746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88266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JOINS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28</a:t>
            </a:fld>
            <a:endParaRPr lang="en-US" noProof="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/>
            <a:r>
              <a:rPr lang="en-US" dirty="0" smtClean="0"/>
              <a:t>5 . Display </a:t>
            </a:r>
            <a:r>
              <a:rPr lang="en-US" dirty="0"/>
              <a:t>all agents and the policy holders assigned to them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SYNTAX</a:t>
            </a:r>
          </a:p>
          <a:p>
            <a:r>
              <a:rPr lang="en-US" dirty="0"/>
              <a:t>SELECT    </a:t>
            </a:r>
            <a:r>
              <a:rPr lang="en-US" dirty="0" err="1"/>
              <a:t>a.First_Name</a:t>
            </a:r>
            <a:r>
              <a:rPr lang="en-US" dirty="0"/>
              <a:t>,    </a:t>
            </a:r>
            <a:r>
              <a:rPr lang="en-US" dirty="0" err="1"/>
              <a:t>a.Last_Name</a:t>
            </a:r>
            <a:r>
              <a:rPr lang="en-US" dirty="0"/>
              <a:t>,    </a:t>
            </a:r>
            <a:r>
              <a:rPr lang="en-US" dirty="0" err="1"/>
              <a:t>ph.Holder_First_Name</a:t>
            </a:r>
            <a:r>
              <a:rPr lang="en-US" dirty="0"/>
              <a:t>,    </a:t>
            </a:r>
            <a:r>
              <a:rPr lang="en-US" dirty="0" err="1"/>
              <a:t>ph.Holder_Last_NameFROM</a:t>
            </a:r>
            <a:r>
              <a:rPr lang="en-US" dirty="0"/>
              <a:t> </a:t>
            </a:r>
            <a:r>
              <a:rPr lang="en-US" dirty="0" err="1"/>
              <a:t>Policy_Holders</a:t>
            </a:r>
            <a:r>
              <a:rPr lang="en-US" dirty="0"/>
              <a:t> </a:t>
            </a:r>
            <a:r>
              <a:rPr lang="en-US" dirty="0" err="1"/>
              <a:t>phRIGHT</a:t>
            </a:r>
            <a:r>
              <a:rPr lang="en-US" dirty="0"/>
              <a:t> JOIN Agents </a:t>
            </a:r>
            <a:r>
              <a:rPr lang="en-US" dirty="0" err="1"/>
              <a:t>aON</a:t>
            </a:r>
            <a:r>
              <a:rPr lang="en-US" dirty="0"/>
              <a:t> </a:t>
            </a:r>
            <a:r>
              <a:rPr lang="en-US" dirty="0" err="1"/>
              <a:t>ph.Agent_ID</a:t>
            </a:r>
            <a:r>
              <a:rPr lang="en-US" dirty="0"/>
              <a:t> = </a:t>
            </a:r>
            <a:r>
              <a:rPr lang="en-US" dirty="0" err="1"/>
              <a:t>a.Agent_ID</a:t>
            </a:r>
            <a:r>
              <a:rPr lang="en-US" dirty="0"/>
              <a:t>;</a:t>
            </a:r>
            <a:endParaRPr lang="en-US" dirty="0" smtClean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44500" y="1576049"/>
            <a:ext cx="5355409" cy="396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27658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4500" y="2690949"/>
            <a:ext cx="11214100" cy="1449628"/>
          </a:xfrm>
        </p:spPr>
        <p:txBody>
          <a:bodyPr/>
          <a:lstStyle/>
          <a:p>
            <a:pPr algn="ctr"/>
            <a:r>
              <a:rPr lang="en-US" sz="6600" dirty="0" smtClean="0"/>
              <a:t>WINDOW FUNCTIONS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RANKING,RUNNIG TOTALS,AND ROW-RELATIVE ANALYSIS 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xmlns="" val="3212718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WINDOW FUNCTIONS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30</a:t>
            </a:fld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/>
            <a:r>
              <a:rPr lang="en-US" dirty="0" smtClean="0"/>
              <a:t> 1 . Rank </a:t>
            </a:r>
            <a:r>
              <a:rPr lang="en-US" dirty="0"/>
              <a:t>policies based on Premium Amount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SYNTAX </a:t>
            </a:r>
          </a:p>
          <a:p>
            <a:r>
              <a:rPr lang="en-US" dirty="0"/>
              <a:t>SELECT </a:t>
            </a:r>
            <a:r>
              <a:rPr lang="en-US" dirty="0" err="1"/>
              <a:t>Policy_Name</a:t>
            </a:r>
            <a:r>
              <a:rPr lang="en-US" dirty="0"/>
              <a:t>,       </a:t>
            </a:r>
            <a:r>
              <a:rPr lang="en-US" dirty="0" err="1"/>
              <a:t>Premium_Amount</a:t>
            </a:r>
            <a:r>
              <a:rPr lang="en-US" dirty="0"/>
              <a:t>,       RANK() OVER(ORDER BY </a:t>
            </a:r>
            <a:r>
              <a:rPr lang="en-US" dirty="0" err="1"/>
              <a:t>Premium_Amount</a:t>
            </a:r>
            <a:r>
              <a:rPr lang="en-US" dirty="0"/>
              <a:t> DESC) AS </a:t>
            </a:r>
            <a:r>
              <a:rPr lang="en-US" dirty="0" err="1"/>
              <a:t>Rank_NoFROM</a:t>
            </a:r>
            <a:r>
              <a:rPr lang="en-US" dirty="0"/>
              <a:t> Policies;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35132" y="1380185"/>
            <a:ext cx="5577840" cy="4809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4485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WINDOW FUNCTION 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31</a:t>
            </a:fld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/>
            <a:r>
              <a:rPr lang="en-US" dirty="0" smtClean="0"/>
              <a:t>2 . Display </a:t>
            </a:r>
            <a:r>
              <a:rPr lang="en-US" dirty="0"/>
              <a:t>the policy holder name with a row number based on the Start Date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SYNTAX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dirty="0"/>
              <a:t>SELECT </a:t>
            </a:r>
            <a:r>
              <a:rPr lang="en-US" dirty="0" err="1"/>
              <a:t>Holder_First_Name</a:t>
            </a:r>
            <a:r>
              <a:rPr lang="en-US" dirty="0"/>
              <a:t>,       </a:t>
            </a:r>
            <a:r>
              <a:rPr lang="en-US" dirty="0" err="1"/>
              <a:t>Start_Date</a:t>
            </a:r>
            <a:r>
              <a:rPr lang="en-US" dirty="0"/>
              <a:t>,       ROW_NUMBER() OVER(ORDER BY </a:t>
            </a:r>
            <a:r>
              <a:rPr lang="en-US" dirty="0" err="1"/>
              <a:t>Start_Date</a:t>
            </a:r>
            <a:r>
              <a:rPr lang="en-US" dirty="0"/>
              <a:t>) AS </a:t>
            </a:r>
            <a:r>
              <a:rPr lang="en-US" dirty="0" err="1"/>
              <a:t>Row_NoFROM</a:t>
            </a:r>
            <a:r>
              <a:rPr lang="en-US" dirty="0"/>
              <a:t> </a:t>
            </a:r>
            <a:r>
              <a:rPr lang="en-US" dirty="0" err="1"/>
              <a:t>Policy_Holders</a:t>
            </a:r>
            <a:r>
              <a:rPr lang="en-US" dirty="0"/>
              <a:t>;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44500" y="1394332"/>
            <a:ext cx="5407659" cy="479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95646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4500" y="2782390"/>
            <a:ext cx="11214100" cy="2573382"/>
          </a:xfrm>
        </p:spPr>
        <p:txBody>
          <a:bodyPr/>
          <a:lstStyle/>
          <a:p>
            <a:pPr algn="ctr"/>
            <a:r>
              <a:rPr lang="en-US" sz="8000" dirty="0" smtClean="0"/>
              <a:t>VIEWS</a:t>
            </a:r>
            <a:br>
              <a:rPr lang="en-US" sz="8000" dirty="0" smtClean="0"/>
            </a:br>
            <a:r>
              <a:rPr lang="en-US" sz="3600" dirty="0" smtClean="0"/>
              <a:t>SAVED QUERY FOR REUSABLE,PRE-AGGREGATED RESULTS</a:t>
            </a:r>
            <a:endParaRPr lang="en-US" sz="3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32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xmlns="" val="922134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33</a:t>
            </a:fld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/>
            <a:r>
              <a:rPr lang="en-US" dirty="0" smtClean="0"/>
              <a:t> 1 . Create </a:t>
            </a:r>
            <a:r>
              <a:rPr lang="en-US" dirty="0"/>
              <a:t>a view to show all policy holder details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SYNTXA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dirty="0"/>
              <a:t>CREATE VIEW </a:t>
            </a:r>
            <a:r>
              <a:rPr lang="en-US" dirty="0" err="1"/>
              <a:t>vw_Policy_Holders</a:t>
            </a:r>
            <a:r>
              <a:rPr lang="en-US" dirty="0"/>
              <a:t> ASSELECT </a:t>
            </a:r>
            <a:r>
              <a:rPr lang="en-US" dirty="0" err="1"/>
              <a:t>Policy_Holder_ID</a:t>
            </a:r>
            <a:r>
              <a:rPr lang="en-US" dirty="0"/>
              <a:t>,       </a:t>
            </a:r>
            <a:r>
              <a:rPr lang="en-US" dirty="0" err="1"/>
              <a:t>Holder_First_Name</a:t>
            </a:r>
            <a:r>
              <a:rPr lang="en-US" dirty="0"/>
              <a:t>,       </a:t>
            </a:r>
            <a:r>
              <a:rPr lang="en-US" dirty="0" err="1"/>
              <a:t>Holder_Last_Name</a:t>
            </a:r>
            <a:r>
              <a:rPr lang="en-US" dirty="0"/>
              <a:t>,       Email,       Phone,       </a:t>
            </a:r>
            <a:r>
              <a:rPr lang="en-US" dirty="0" err="1"/>
              <a:t>StatusFROM</a:t>
            </a:r>
            <a:r>
              <a:rPr lang="en-US" dirty="0"/>
              <a:t> </a:t>
            </a:r>
            <a:r>
              <a:rPr lang="en-US" dirty="0" err="1"/>
              <a:t>Policy_Holders;select</a:t>
            </a:r>
            <a:r>
              <a:rPr lang="en-US" dirty="0"/>
              <a:t>* from </a:t>
            </a:r>
            <a:r>
              <a:rPr lang="en-US" dirty="0" err="1"/>
              <a:t>vw_Policy_Holders</a:t>
            </a:r>
            <a:r>
              <a:rPr lang="en-US" b="1" dirty="0">
                <a:solidFill>
                  <a:srgbClr val="FF0000"/>
                </a:solidFill>
              </a:rPr>
              <a:t>;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4503" y="1411648"/>
            <a:ext cx="6396309" cy="490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57617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34</a:t>
            </a:fld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00812" y="1920239"/>
            <a:ext cx="5157788" cy="584835"/>
          </a:xfrm>
        </p:spPr>
        <p:txBody>
          <a:bodyPr/>
          <a:lstStyle/>
          <a:p>
            <a:r>
              <a:rPr lang="en-US" dirty="0" smtClean="0"/>
              <a:t> 2 . </a:t>
            </a:r>
            <a:r>
              <a:rPr lang="en-US" dirty="0"/>
              <a:t>Create a view to show policy details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6606041" y="2505075"/>
            <a:ext cx="5183188" cy="3684588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SYNTAX</a:t>
            </a:r>
          </a:p>
          <a:p>
            <a:r>
              <a:rPr lang="en-US" dirty="0"/>
              <a:t>CREATE VIEW </a:t>
            </a:r>
            <a:r>
              <a:rPr lang="en-US" dirty="0" err="1"/>
              <a:t>vw_Policies</a:t>
            </a:r>
            <a:r>
              <a:rPr lang="en-US" dirty="0"/>
              <a:t> ASSELECT </a:t>
            </a:r>
            <a:r>
              <a:rPr lang="en-US" dirty="0" err="1"/>
              <a:t>Policy_ID</a:t>
            </a:r>
            <a:r>
              <a:rPr lang="en-US" dirty="0"/>
              <a:t>,       </a:t>
            </a:r>
            <a:r>
              <a:rPr lang="en-US" dirty="0" err="1"/>
              <a:t>Policy_Name</a:t>
            </a:r>
            <a:r>
              <a:rPr lang="en-US" dirty="0"/>
              <a:t>,       </a:t>
            </a:r>
            <a:r>
              <a:rPr lang="en-US" dirty="0" err="1"/>
              <a:t>Policy_Type</a:t>
            </a:r>
            <a:r>
              <a:rPr lang="en-US" dirty="0"/>
              <a:t>,       </a:t>
            </a:r>
            <a:r>
              <a:rPr lang="en-US" dirty="0" err="1"/>
              <a:t>Coverage_Amount</a:t>
            </a:r>
            <a:r>
              <a:rPr lang="en-US" dirty="0"/>
              <a:t>,       </a:t>
            </a:r>
            <a:r>
              <a:rPr lang="en-US" dirty="0" err="1"/>
              <a:t>Premium_AmountFROM</a:t>
            </a:r>
            <a:r>
              <a:rPr lang="en-US" dirty="0"/>
              <a:t> </a:t>
            </a:r>
            <a:r>
              <a:rPr lang="en-US" dirty="0" err="1"/>
              <a:t>Policies;select</a:t>
            </a:r>
            <a:r>
              <a:rPr lang="en-US" dirty="0"/>
              <a:t>*from </a:t>
            </a:r>
            <a:r>
              <a:rPr lang="en-US" dirty="0" err="1"/>
              <a:t>vw_Policies</a:t>
            </a:r>
            <a:r>
              <a:rPr lang="en-US" dirty="0"/>
              <a:t>;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2880" y="1238805"/>
            <a:ext cx="6187303" cy="5076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6006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VIEWS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35</a:t>
            </a:fld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/>
            <a:r>
              <a:rPr lang="en-US" dirty="0" smtClean="0"/>
              <a:t> 3 . Create </a:t>
            </a:r>
            <a:r>
              <a:rPr lang="en-US" dirty="0"/>
              <a:t>a view showing policies with premium amount greater than 10000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S</a:t>
            </a:r>
            <a:r>
              <a:rPr lang="en-US" b="1" dirty="0" smtClean="0">
                <a:solidFill>
                  <a:srgbClr val="FF0000"/>
                </a:solidFill>
              </a:rPr>
              <a:t>YNTAX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dirty="0"/>
              <a:t>CREATE VIEW </a:t>
            </a:r>
            <a:r>
              <a:rPr lang="en-US" dirty="0" err="1"/>
              <a:t>Expensive_Policies</a:t>
            </a:r>
            <a:r>
              <a:rPr lang="en-US" dirty="0"/>
              <a:t> ASSELECT *FROM </a:t>
            </a:r>
            <a:r>
              <a:rPr lang="en-US" dirty="0" err="1"/>
              <a:t>PoliciesWHERE</a:t>
            </a:r>
            <a:r>
              <a:rPr lang="en-US" dirty="0"/>
              <a:t> </a:t>
            </a:r>
            <a:r>
              <a:rPr lang="en-US" dirty="0" err="1"/>
              <a:t>Premium_Amount</a:t>
            </a:r>
            <a:r>
              <a:rPr lang="en-US" dirty="0"/>
              <a:t>&gt;10000;select*from </a:t>
            </a:r>
            <a:r>
              <a:rPr lang="en-US" dirty="0" err="1"/>
              <a:t>Expensive_Policies</a:t>
            </a:r>
            <a:r>
              <a:rPr lang="en-US" dirty="0"/>
              <a:t>;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4504" y="1553317"/>
            <a:ext cx="6230982" cy="4636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50819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061" y="1580606"/>
            <a:ext cx="11214100" cy="796834"/>
          </a:xfrm>
        </p:spPr>
        <p:txBody>
          <a:bodyPr/>
          <a:lstStyle/>
          <a:p>
            <a:r>
              <a:rPr lang="en-US" sz="4800" dirty="0" smtClean="0"/>
              <a:t>PREPARED BY :</a:t>
            </a:r>
            <a:endParaRPr lang="en-US" sz="4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36</a:t>
            </a:fld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586740" y="2377440"/>
            <a:ext cx="9372600" cy="4036423"/>
          </a:xfrm>
        </p:spPr>
        <p:txBody>
          <a:bodyPr>
            <a:normAutofit lnSpcReduction="10000"/>
          </a:bodyPr>
          <a:lstStyle/>
          <a:p>
            <a:pPr algn="l"/>
            <a:r>
              <a:rPr lang="en-US" dirty="0" err="1" smtClean="0"/>
              <a:t>Prathamesh</a:t>
            </a:r>
            <a:r>
              <a:rPr lang="en-US" dirty="0" smtClean="0"/>
              <a:t> Jaiswal</a:t>
            </a:r>
          </a:p>
          <a:p>
            <a:pPr algn="l"/>
            <a:r>
              <a:rPr lang="en-US" sz="4000" dirty="0" err="1" smtClean="0"/>
              <a:t>ITvedant</a:t>
            </a:r>
            <a:r>
              <a:rPr lang="en-US" sz="4000" dirty="0" smtClean="0"/>
              <a:t>-Data Science&amp; Analytics with Artificial </a:t>
            </a:r>
            <a:r>
              <a:rPr lang="en-US" sz="4000" dirty="0" err="1" smtClean="0"/>
              <a:t>Intalligence</a:t>
            </a:r>
            <a:endParaRPr lang="en-US" sz="4000" dirty="0" smtClean="0"/>
          </a:p>
          <a:p>
            <a:pPr algn="l"/>
            <a:r>
              <a:rPr lang="en-US" sz="4000" dirty="0" smtClean="0"/>
              <a:t>MAY26-T380</a:t>
            </a:r>
          </a:p>
          <a:p>
            <a:pPr algn="l"/>
            <a:r>
              <a:rPr lang="en-US" sz="4000" b="1" dirty="0"/>
              <a:t>Life Insurance Policy Management </a:t>
            </a:r>
            <a:r>
              <a:rPr lang="en-US" sz="4000" b="1" dirty="0" smtClean="0"/>
              <a:t>System </a:t>
            </a:r>
            <a:endParaRPr lang="en-US" sz="4000" dirty="0" smtClean="0"/>
          </a:p>
          <a:p>
            <a:pPr algn="l"/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xmlns="" val="3845985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81934" y="3019566"/>
            <a:ext cx="5445457" cy="2016457"/>
          </a:xfrm>
        </p:spPr>
        <p:txBody>
          <a:bodyPr/>
          <a:lstStyle/>
          <a:p>
            <a:r>
              <a:rPr lang="en-GB" sz="7200" dirty="0" smtClean="0"/>
              <a:t>THANK YOU</a:t>
            </a:r>
            <a:endParaRPr lang="en-GB" sz="7200" dirty="0"/>
          </a:p>
        </p:txBody>
      </p:sp>
    </p:spTree>
    <p:extLst>
      <p:ext uri="{BB962C8B-B14F-4D97-AF65-F5344CB8AC3E}">
        <p14:creationId xmlns:p14="http://schemas.microsoft.com/office/powerpoint/2010/main" xmlns="" val="440696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16c05727-aa75-4e4a-9b5f-8a80a1165891"/>
    <ds:schemaRef ds:uri="http://purl.org/dc/dcmitype/"/>
    <ds:schemaRef ds:uri="http://schemas.microsoft.com/office/infopath/2007/PartnerControls"/>
    <ds:schemaRef ds:uri="http://purl.org/dc/elements/1.1/"/>
    <ds:schemaRef ds:uri="71af3243-3dd4-4a8d-8c0d-dd76da1f02a5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0</TotalTime>
  <Words>1064</Words>
  <Application>Microsoft Office PowerPoint</Application>
  <PresentationFormat>Custom</PresentationFormat>
  <Paragraphs>185</Paragraphs>
  <Slides>37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Office Theme</vt:lpstr>
      <vt:lpstr>Life Insurance Policy</vt:lpstr>
      <vt:lpstr>What is Life Insurance</vt:lpstr>
      <vt:lpstr>ABSTRACT</vt:lpstr>
      <vt:lpstr>ER - Diagram</vt:lpstr>
      <vt:lpstr>STRUCTURE OF TABLE</vt:lpstr>
      <vt:lpstr>STRUCTURE OF POLICIES TABLE</vt:lpstr>
      <vt:lpstr>STRUCTURE OF AGENTS TABLE</vt:lpstr>
      <vt:lpstr>STRUCTURE OF POLICY HOLDERS TABLE </vt:lpstr>
      <vt:lpstr>STRUCTURE OF PREMIUM PAYMENT TABLE</vt:lpstr>
      <vt:lpstr>STRUCTURE OF CLAIM TABLE</vt:lpstr>
      <vt:lpstr>CONTENTS OF TABLES</vt:lpstr>
      <vt:lpstr>CONTENTS OF POLICIES TABLE</vt:lpstr>
      <vt:lpstr>CONTENTS OF AGENTS TABLEE</vt:lpstr>
      <vt:lpstr>CONTENTS OF POLICY HOLDERS TABLE</vt:lpstr>
      <vt:lpstr>CONTENTS OF PRRMIUM PAYMENT TABLE</vt:lpstr>
      <vt:lpstr>CONTENTS OF CLAIM TABLES</vt:lpstr>
      <vt:lpstr>Slide 17</vt:lpstr>
      <vt:lpstr>SUB-QUERY</vt:lpstr>
      <vt:lpstr>SUB-QUERY</vt:lpstr>
      <vt:lpstr>SUB-QUERY</vt:lpstr>
      <vt:lpstr>SUB-QUERY</vt:lpstr>
      <vt:lpstr>SUB-QUERY</vt:lpstr>
      <vt:lpstr>Slide 23</vt:lpstr>
      <vt:lpstr>JOINS</vt:lpstr>
      <vt:lpstr>JOINS</vt:lpstr>
      <vt:lpstr>JOINS</vt:lpstr>
      <vt:lpstr>JOINS</vt:lpstr>
      <vt:lpstr>JOINS</vt:lpstr>
      <vt:lpstr>WINDOW FUNCTIONS RANKING,RUNNIG TOTALS,AND ROW-RELATIVE ANALYSIS </vt:lpstr>
      <vt:lpstr>WINDOW FUNCTIONS</vt:lpstr>
      <vt:lpstr>WINDOW FUNCTION </vt:lpstr>
      <vt:lpstr>VIEWS SAVED QUERY FOR REUSABLE,PRE-AGGREGATED RESULTS</vt:lpstr>
      <vt:lpstr>VIEWS</vt:lpstr>
      <vt:lpstr>VIEWS</vt:lpstr>
      <vt:lpstr>VIEWS</vt:lpstr>
      <vt:lpstr>PREPARED BY :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2026-08-01T06:13:12Z</dcterms:created>
  <dcterms:modified xsi:type="dcterms:W3CDTF">2026-10-18T07:23:35Z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